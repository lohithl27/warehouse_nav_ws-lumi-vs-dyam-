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eG2VbDAEBzX3w1zsWuJlAF3d9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F689FE-88C6-4CD7-9D8E-EDAC9D5B20A5}">
  <a:tblStyle styleId="{5CF689FE-88C6-4CD7-9D8E-EDAC9D5B20A5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CFD7E7"/>
          </a:solidFill>
        </a:fill>
      </a:tcStyle>
    </a:wholeTbl>
    <a:band1H>
      <a:tcTxStyle/>
    </a:band1H>
    <a:band2H>
      <a:tcTxStyle b="off" i="off"/>
      <a:tcStyle>
        <a:fill>
          <a:solidFill>
            <a:srgbClr val="E8ECF4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24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10" Type="http://schemas.openxmlformats.org/officeDocument/2006/relationships/image" Target="../media/image14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JfTcfAjxUCaNTDbIZ65KJrUJXiS8Nqbz/view" TargetMode="External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162983" y="1462592"/>
            <a:ext cx="16096317" cy="414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700"/>
              <a:buFont typeface="Calibri"/>
              <a:buNone/>
            </a:pPr>
            <a:r>
              <a:rPr b="0" i="0" lang="en-US" sz="27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Autonomous Visual Navigation Challenge – Round 1 Proposal</a:t>
            </a:r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062271" y="2210791"/>
            <a:ext cx="16096317" cy="1448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Calibri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WarehouseNav AMR</a:t>
            </a:r>
            <a:endParaRPr/>
          </a:p>
        </p:txBody>
      </p:sp>
      <p:sp>
        <p:nvSpPr>
          <p:cNvPr id="60" name="Google Shape;60;p1"/>
          <p:cNvSpPr txBox="1"/>
          <p:nvPr/>
        </p:nvSpPr>
        <p:spPr>
          <a:xfrm>
            <a:off x="1095842" y="4011143"/>
            <a:ext cx="16029176" cy="242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454"/>
              </a:lnSpc>
              <a:spcBef>
                <a:spcPts val="0"/>
              </a:spcBef>
              <a:spcAft>
                <a:spcPts val="0"/>
              </a:spcAft>
              <a:buClr>
                <a:srgbClr val="E87621"/>
              </a:buClr>
              <a:buSzPts val="4400"/>
              <a:buFont typeface="Calibri"/>
              <a:buNone/>
            </a:pPr>
            <a:r>
              <a:rPr b="0" i="1" lang="en-US" sz="4400" u="none" cap="none" strike="noStrike">
                <a:solidFill>
                  <a:srgbClr val="E87621"/>
                </a:solidFill>
                <a:latin typeface="Calibri"/>
                <a:ea typeface="Calibri"/>
                <a:cs typeface="Calibri"/>
                <a:sym typeface="Calibri"/>
              </a:rPr>
              <a:t>Autonomous GPS-Denied Indoor Navigation for Warehouse Inventory Management</a:t>
            </a:r>
            <a:endParaRPr/>
          </a:p>
          <a:p>
            <a:pPr indent="0" lvl="0" marL="0" marR="0" rtl="0" algn="ctr">
              <a:lnSpc>
                <a:spcPct val="120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 b="0" i="1" sz="4400" u="none" cap="none" strike="noStrike">
              <a:solidFill>
                <a:srgbClr val="E876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E87621"/>
              </a:buClr>
              <a:buSzPts val="2600"/>
              <a:buFont typeface="Calibri"/>
              <a:buNone/>
            </a:pPr>
            <a:r>
              <a:rPr b="0" i="1" lang="en-US" sz="2600" u="none" cap="none" strike="noStrike">
                <a:solidFill>
                  <a:srgbClr val="E87621"/>
                </a:solidFill>
                <a:latin typeface="Calibri"/>
                <a:ea typeface="Calibri"/>
                <a:cs typeface="Calibri"/>
                <a:sym typeface="Calibri"/>
              </a:rPr>
              <a:t>From Navigation to Intelligent Interaction</a:t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5473446" y="6831462"/>
            <a:ext cx="7341000" cy="627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1028700" y="6831458"/>
            <a:ext cx="16096317" cy="542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Team Proposal Presentation</a:t>
            </a:r>
            <a:endParaRPr/>
          </a:p>
        </p:txBody>
      </p:sp>
      <p:sp>
        <p:nvSpPr>
          <p:cNvPr id="63" name="Google Shape;63;p1"/>
          <p:cNvSpPr txBox="1"/>
          <p:nvPr/>
        </p:nvSpPr>
        <p:spPr>
          <a:xfrm>
            <a:off x="1095842" y="7514460"/>
            <a:ext cx="16096317" cy="47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Perception-to-Control Pipeline using ROS2 &amp; Gazebo</a:t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1095842" y="8412142"/>
            <a:ext cx="1609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Challenge Track:  Robotics  |  Industry Partner: ARTPARK, IISc  |  Deadline: 2</a:t>
            </a:r>
            <a:r>
              <a:rPr lang="en-US" sz="2400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2400" u="none" cap="none" strike="noStrike">
                <a:solidFill>
                  <a:srgbClr val="656565"/>
                </a:solidFill>
                <a:latin typeface="Calibri"/>
                <a:ea typeface="Calibri"/>
                <a:cs typeface="Calibri"/>
                <a:sym typeface="Calibri"/>
              </a:rPr>
              <a:t> March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730081" y="837476"/>
            <a:ext cx="16827838" cy="1146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Calibri"/>
              <a:buNone/>
            </a:pPr>
            <a:r>
              <a:rPr b="1" i="0" lang="en-US" sz="7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Proposal &amp; Team Details</a:t>
            </a:r>
            <a:endParaRPr/>
          </a:p>
        </p:txBody>
      </p:sp>
      <p:graphicFrame>
        <p:nvGraphicFramePr>
          <p:cNvPr id="79" name="Google Shape;79;p2"/>
          <p:cNvGraphicFramePr/>
          <p:nvPr/>
        </p:nvGraphicFramePr>
        <p:xfrm>
          <a:off x="731519" y="27029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{5CF689FE-88C6-4CD7-9D8E-EDAC9D5B20A5}</a:tableStyleId>
              </a:tblPr>
              <a:tblGrid>
                <a:gridCol w="3498200"/>
                <a:gridCol w="13821150"/>
              </a:tblGrid>
              <a:tr h="10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600"/>
                        <a:buFont typeface="Calibri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Field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600"/>
                        <a:buFont typeface="Calibri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2D"/>
                    </a:solidFill>
                  </a:tcPr>
                </a:tc>
              </a:tr>
              <a:tr h="96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62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E876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Proposal Title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WarehouseNav AMR:Intelligent Navigation and Pick-and-Place in GPS-Denied Warehouse Environments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76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62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E876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Name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Lumi 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010"/>
                    </a:solidFill>
                  </a:tcPr>
                </a:tc>
              </a:tr>
              <a:tr h="76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62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E876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Lead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Nandanaa M S  | Email: nandanaams555@gmail.com | Reva University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76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62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E876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Challenge Track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Robotics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010"/>
                    </a:solidFill>
                  </a:tcPr>
                </a:tc>
              </a:tr>
              <a:tr h="76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62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E876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Industry Partner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ARTPARK, AI &amp; Robotics Technology Park @ IISc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76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62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E876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Submission Deadline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2400">
                          <a:solidFill>
                            <a:srgbClr val="FFFFFF"/>
                          </a:solidFill>
                        </a:rPr>
                        <a:t>6</a:t>
                      </a: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March 2026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010"/>
                    </a:solidFill>
                  </a:tcPr>
                </a:tc>
              </a:tr>
              <a:tr h="75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62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E876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Round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17–19 April 2026 — MIT Bengaluru Campus</a:t>
                      </a:r>
                      <a:endParaRPr/>
                    </a:p>
                  </a:txBody>
                  <a:tcPr marT="45725" marB="45725" marR="45725" marL="45725" anchor="ctr">
                    <a:lnL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950">
                      <a:solidFill>
                        <a:srgbClr val="32323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-1" y="1105281"/>
            <a:ext cx="18533954" cy="2528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0"/>
              <a:buFont typeface="Calibri"/>
              <a:buNone/>
            </a:pPr>
            <a:r>
              <a:rPr b="1" i="0" lang="en-US" sz="8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Members, Affiliation &amp; Expertise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71079" y="2402360"/>
            <a:ext cx="17453978" cy="158598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65036" y="2395615"/>
            <a:ext cx="133570" cy="15994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917472" y="2480479"/>
            <a:ext cx="3792785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Clr>
                <a:srgbClr val="E8762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7621"/>
                </a:solidFill>
                <a:latin typeface="Calibri"/>
                <a:ea typeface="Calibri"/>
                <a:cs typeface="Calibri"/>
                <a:sym typeface="Calibri"/>
              </a:rPr>
              <a:t>Member 1 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917472" y="3083778"/>
            <a:ext cx="3792785" cy="364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Nandanaa M S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5028550" y="2610916"/>
            <a:ext cx="47626" cy="1168142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5729770" y="2519655"/>
            <a:ext cx="4695153" cy="364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Reva University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5686810" y="3101938"/>
            <a:ext cx="11372675" cy="328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F4A449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4A449"/>
                </a:solidFill>
                <a:latin typeface="Calibri"/>
                <a:ea typeface="Calibri"/>
                <a:cs typeface="Calibri"/>
                <a:sym typeface="Calibri"/>
              </a:rPr>
              <a:t>Expertise: ROS2, Nav2, SLAM, Sensor Fusion, Autonomous Navigation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371248" y="4240088"/>
            <a:ext cx="17453809" cy="1630428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5036" y="4233154"/>
            <a:ext cx="137313" cy="1644233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932954" y="4321995"/>
            <a:ext cx="3899064" cy="403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E87621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E87621"/>
                </a:solidFill>
                <a:latin typeface="Calibri"/>
                <a:ea typeface="Calibri"/>
                <a:cs typeface="Calibri"/>
                <a:sym typeface="Calibri"/>
              </a:rPr>
              <a:t>Member 2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932954" y="4941934"/>
            <a:ext cx="3899064" cy="364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Lohith M R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5663987" y="4320737"/>
            <a:ext cx="4826720" cy="364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SRM University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5663987" y="4984768"/>
            <a:ext cx="11691358" cy="338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F4A449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4A449"/>
                </a:solidFill>
                <a:latin typeface="Calibri"/>
                <a:ea typeface="Calibri"/>
                <a:cs typeface="Calibri"/>
                <a:sym typeface="Calibri"/>
              </a:rPr>
              <a:t>Expertise: ROS2, CAD Design, Computer Vision, YOLOv8, OpenCV, Perception Pipelines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371248" y="6074819"/>
            <a:ext cx="17453809" cy="163042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65036" y="6067885"/>
            <a:ext cx="137313" cy="16442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932954" y="6156728"/>
            <a:ext cx="3899064" cy="403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E87621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E87621"/>
                </a:solidFill>
                <a:latin typeface="Calibri"/>
                <a:ea typeface="Calibri"/>
                <a:cs typeface="Calibri"/>
                <a:sym typeface="Calibri"/>
              </a:rPr>
              <a:t>Member 3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932954" y="6776666"/>
            <a:ext cx="3899064" cy="364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Nithin Kumar M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5041693" y="6276213"/>
            <a:ext cx="47626" cy="120087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5663987" y="6155468"/>
            <a:ext cx="4826720" cy="364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GMIT College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5663987" y="6819500"/>
            <a:ext cx="11691358" cy="338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F4A449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4A449"/>
                </a:solidFill>
                <a:latin typeface="Calibri"/>
                <a:ea typeface="Calibri"/>
                <a:cs typeface="Calibri"/>
                <a:sym typeface="Calibri"/>
              </a:rPr>
              <a:t>Expertise: Python, Open CV, HTML, JAVA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5015767" y="4457848"/>
            <a:ext cx="47626" cy="1168141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71248" y="7909552"/>
            <a:ext cx="17453809" cy="1630428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65036" y="7902616"/>
            <a:ext cx="137313" cy="1644233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932954" y="7991460"/>
            <a:ext cx="3899064" cy="403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E87621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E87621"/>
                </a:solidFill>
                <a:latin typeface="Calibri"/>
                <a:ea typeface="Calibri"/>
                <a:cs typeface="Calibri"/>
                <a:sym typeface="Calibri"/>
              </a:rPr>
              <a:t>Member 4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932954" y="8611396"/>
            <a:ext cx="3899064" cy="364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Sudarshan D T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5041693" y="8110945"/>
            <a:ext cx="47626" cy="120087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3987" y="7990199"/>
            <a:ext cx="4826720" cy="364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GMIT College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663987" y="8654232"/>
            <a:ext cx="11691358" cy="338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F4A449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4A449"/>
                </a:solidFill>
                <a:latin typeface="Calibri"/>
                <a:ea typeface="Calibri"/>
                <a:cs typeface="Calibri"/>
                <a:sym typeface="Calibri"/>
              </a:rPr>
              <a:t>Expertise: C++, Embedded C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640080" y="1240313"/>
            <a:ext cx="17007840" cy="994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of the Problem Statement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548640" y="2651760"/>
            <a:ext cx="17190720" cy="1133857"/>
          </a:xfrm>
          <a:prstGeom prst="rect">
            <a:avLst/>
          </a:prstGeom>
          <a:solidFill>
            <a:srgbClr val="0A0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48640" y="2651760"/>
            <a:ext cx="17190720" cy="73153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005839" y="2717154"/>
            <a:ext cx="16276321" cy="948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0" i="1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Warehouses are GPS-denied environments. Concrete walls + metal shelving block ALL satellite signals — standard robot positioning fails completely.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640080" y="4004408"/>
            <a:ext cx="8046720" cy="476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640080" y="5037435"/>
            <a:ext cx="8046720" cy="3824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GPS signal indoors — concrete walls block satellites entirely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AMRs need fixed infrastructure (QR grids, magnetic strips)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Costs ₹10–50L to deploy fixed navigation infrastructure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Layout changes break pre-built maps — full remapping required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 AMRs freeze when humans or forklifts cross their path</a:t>
            </a:r>
            <a:endParaRPr/>
          </a:p>
        </p:txBody>
      </p:sp>
      <p:cxnSp>
        <p:nvCxnSpPr>
          <p:cNvPr id="141" name="Google Shape;141;p4"/>
          <p:cNvCxnSpPr/>
          <p:nvPr/>
        </p:nvCxnSpPr>
        <p:spPr>
          <a:xfrm flipH="1">
            <a:off x="9235439" y="3913631"/>
            <a:ext cx="1" cy="5669281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4"/>
          <p:cNvSpPr txBox="1"/>
          <p:nvPr/>
        </p:nvSpPr>
        <p:spPr>
          <a:xfrm>
            <a:off x="9601200" y="4004408"/>
            <a:ext cx="8046720" cy="476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Key Challenges (from ARTPARK framework)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9509759" y="4572000"/>
            <a:ext cx="8229601" cy="1426464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9509759" y="4572000"/>
            <a:ext cx="109729" cy="1426464"/>
          </a:xfrm>
          <a:prstGeom prst="rect">
            <a:avLst/>
          </a:prstGeom>
          <a:solidFill>
            <a:srgbClr val="00B4D8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9930383" y="4677517"/>
            <a:ext cx="7498081" cy="483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Perception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9930383" y="5247992"/>
            <a:ext cx="7498081" cy="476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real-time map using only onboard sensors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9509759" y="6217920"/>
            <a:ext cx="8229601" cy="142646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509759" y="6217920"/>
            <a:ext cx="109729" cy="1426465"/>
          </a:xfrm>
          <a:prstGeom prst="rect">
            <a:avLst/>
          </a:prstGeom>
          <a:solidFill>
            <a:srgbClr val="50C878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9930383" y="6323436"/>
            <a:ext cx="7498081" cy="483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Decision-Making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9930383" y="6893911"/>
            <a:ext cx="7498081" cy="476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Collision-free planning in dynamic aisles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9509759" y="7764058"/>
            <a:ext cx="8229601" cy="142646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509759" y="7757708"/>
            <a:ext cx="109729" cy="1426465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9930383" y="7869575"/>
            <a:ext cx="7498081" cy="483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9930383" y="8440050"/>
            <a:ext cx="7498081" cy="476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Smooth differential-drive from high-level waypoints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548640" y="9345166"/>
            <a:ext cx="17190720" cy="438913"/>
          </a:xfrm>
          <a:prstGeom prst="rect">
            <a:avLst/>
          </a:prstGeom>
          <a:solidFill>
            <a:srgbClr val="0A0A0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48640" y="9360852"/>
            <a:ext cx="17190720" cy="3279"/>
          </a:xfrm>
          <a:prstGeom prst="rect">
            <a:avLst/>
          </a:prstGeom>
          <a:solidFill>
            <a:srgbClr val="F4A44A"/>
          </a:solidFill>
          <a:ln cap="flat" cmpd="sng" w="25400">
            <a:solidFill>
              <a:srgbClr val="F4A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822959" y="9352359"/>
            <a:ext cx="1664208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Simulation assumptions:  Flat warehouse floor  |  2D LiDAR sufficient  |  No multi-floor navigation  |  Differential-drive robot  |  Known start pose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640080" y="1155441"/>
            <a:ext cx="17007840" cy="889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Solution – High Level Architecture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640080" y="2212184"/>
            <a:ext cx="17007840" cy="476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Differential-drive AMR: camera + LiDAR → SLAM → Nav2 MPPI → autonomous warehouse navigation. Zero fixed infrastructure.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365759" y="2962655"/>
            <a:ext cx="2779778" cy="914401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548640" y="3071439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RPLiDAR A1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360°, 10 Hz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3401567" y="2962655"/>
            <a:ext cx="2779778" cy="914401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3584448" y="3071439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IMU MPU-9250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100 Hz, 6-DOF</a:t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6437376" y="2962655"/>
            <a:ext cx="2779777" cy="914401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6620256" y="3071439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Wheel Encoders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Odometry, 50Hz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9473183" y="2962655"/>
            <a:ext cx="2779777" cy="914401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9656064" y="3071439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USB Camera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640×480, 30fps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12502641" y="3207592"/>
            <a:ext cx="219456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365759" y="4206240"/>
            <a:ext cx="2779778" cy="914401"/>
          </a:xfrm>
          <a:prstGeom prst="rect">
            <a:avLst/>
          </a:prstGeom>
          <a:solidFill>
            <a:srgbClr val="1A332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548640" y="4315023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slam_toolbox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Live occupancy map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3401567" y="4206240"/>
            <a:ext cx="2779778" cy="914401"/>
          </a:xfrm>
          <a:prstGeom prst="rect">
            <a:avLst/>
          </a:prstGeom>
          <a:solidFill>
            <a:srgbClr val="1A332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3584448" y="4315023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EKF Fusion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robot_localization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6437376" y="4206240"/>
            <a:ext cx="2779777" cy="914401"/>
          </a:xfrm>
          <a:prstGeom prst="rect">
            <a:avLst/>
          </a:prstGeom>
          <a:solidFill>
            <a:srgbClr val="1A332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6620256" y="4315023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Nav2 Stack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MPPI planner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9473183" y="4206240"/>
            <a:ext cx="2779777" cy="914401"/>
          </a:xfrm>
          <a:prstGeom prst="rect">
            <a:avLst/>
          </a:prstGeom>
          <a:solidFill>
            <a:srgbClr val="1A332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9656064" y="4315023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YOLOv8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Obstacle detect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12502641" y="4451176"/>
            <a:ext cx="237744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365759" y="5486400"/>
            <a:ext cx="2779778" cy="914400"/>
          </a:xfrm>
          <a:prstGeom prst="rect">
            <a:avLst/>
          </a:prstGeom>
          <a:solidFill>
            <a:srgbClr val="2A1A1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548640" y="5595183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BehaviorTree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Mission sequencer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3401567" y="5486400"/>
            <a:ext cx="2779778" cy="914400"/>
          </a:xfrm>
          <a:prstGeom prst="rect">
            <a:avLst/>
          </a:prstGeom>
          <a:solidFill>
            <a:srgbClr val="2A1A1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3584448" y="5595183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Costmap2D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Dynamic layers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6437376" y="5486400"/>
            <a:ext cx="2779777" cy="914400"/>
          </a:xfrm>
          <a:prstGeom prst="rect">
            <a:avLst/>
          </a:prstGeom>
          <a:solidFill>
            <a:srgbClr val="2A1A1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6620256" y="5595183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cmd_vel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20 Hz output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9473183" y="5486400"/>
            <a:ext cx="2779777" cy="914400"/>
          </a:xfrm>
          <a:prstGeom prst="rect">
            <a:avLst/>
          </a:prstGeom>
          <a:solidFill>
            <a:srgbClr val="2A1A1A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9656064" y="5595183"/>
            <a:ext cx="2414017" cy="696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micro-ROS MCU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Motor PWM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12502641" y="5475477"/>
            <a:ext cx="201168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/>
          </a:p>
        </p:txBody>
      </p:sp>
      <p:cxnSp>
        <p:nvCxnSpPr>
          <p:cNvPr id="200" name="Google Shape;200;p5"/>
          <p:cNvCxnSpPr/>
          <p:nvPr/>
        </p:nvCxnSpPr>
        <p:spPr>
          <a:xfrm>
            <a:off x="1783079" y="3877055"/>
            <a:ext cx="1" cy="292609"/>
          </a:xfrm>
          <a:prstGeom prst="straightConnector1">
            <a:avLst/>
          </a:prstGeom>
          <a:noFill/>
          <a:ln cap="flat" cmpd="sng" w="381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" name="Google Shape;201;p5"/>
          <p:cNvCxnSpPr/>
          <p:nvPr/>
        </p:nvCxnSpPr>
        <p:spPr>
          <a:xfrm>
            <a:off x="1783079" y="5120640"/>
            <a:ext cx="1" cy="329185"/>
          </a:xfrm>
          <a:prstGeom prst="straightConnector1">
            <a:avLst/>
          </a:prstGeom>
          <a:noFill/>
          <a:ln cap="flat" cmpd="sng" w="381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5"/>
          <p:cNvCxnSpPr/>
          <p:nvPr/>
        </p:nvCxnSpPr>
        <p:spPr>
          <a:xfrm>
            <a:off x="4764024" y="3877055"/>
            <a:ext cx="1" cy="292609"/>
          </a:xfrm>
          <a:prstGeom prst="straightConnector1">
            <a:avLst/>
          </a:prstGeom>
          <a:noFill/>
          <a:ln cap="flat" cmpd="sng" w="381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5"/>
          <p:cNvCxnSpPr/>
          <p:nvPr/>
        </p:nvCxnSpPr>
        <p:spPr>
          <a:xfrm>
            <a:off x="4764024" y="5120640"/>
            <a:ext cx="1" cy="329185"/>
          </a:xfrm>
          <a:prstGeom prst="straightConnector1">
            <a:avLst/>
          </a:prstGeom>
          <a:noFill/>
          <a:ln cap="flat" cmpd="sng" w="381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5"/>
          <p:cNvCxnSpPr/>
          <p:nvPr/>
        </p:nvCxnSpPr>
        <p:spPr>
          <a:xfrm>
            <a:off x="7744968" y="3877055"/>
            <a:ext cx="1" cy="292609"/>
          </a:xfrm>
          <a:prstGeom prst="straightConnector1">
            <a:avLst/>
          </a:prstGeom>
          <a:noFill/>
          <a:ln cap="flat" cmpd="sng" w="381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p5"/>
          <p:cNvCxnSpPr/>
          <p:nvPr/>
        </p:nvCxnSpPr>
        <p:spPr>
          <a:xfrm>
            <a:off x="7744968" y="5120640"/>
            <a:ext cx="1" cy="329185"/>
          </a:xfrm>
          <a:prstGeom prst="straightConnector1">
            <a:avLst/>
          </a:prstGeom>
          <a:noFill/>
          <a:ln cap="flat" cmpd="sng" w="381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" name="Google Shape;206;p5"/>
          <p:cNvCxnSpPr/>
          <p:nvPr/>
        </p:nvCxnSpPr>
        <p:spPr>
          <a:xfrm>
            <a:off x="10725911" y="3877055"/>
            <a:ext cx="1" cy="292609"/>
          </a:xfrm>
          <a:prstGeom prst="straightConnector1">
            <a:avLst/>
          </a:prstGeom>
          <a:noFill/>
          <a:ln cap="flat" cmpd="sng" w="381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" name="Google Shape;207;p5"/>
          <p:cNvCxnSpPr/>
          <p:nvPr/>
        </p:nvCxnSpPr>
        <p:spPr>
          <a:xfrm>
            <a:off x="10725911" y="5120640"/>
            <a:ext cx="1" cy="329185"/>
          </a:xfrm>
          <a:prstGeom prst="straightConnector1">
            <a:avLst/>
          </a:prstGeom>
          <a:noFill/>
          <a:ln cap="flat" cmpd="sng" w="381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5"/>
          <p:cNvSpPr/>
          <p:nvPr/>
        </p:nvSpPr>
        <p:spPr>
          <a:xfrm>
            <a:off x="14447519" y="4206240"/>
            <a:ext cx="3657601" cy="2231137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4447519" y="4206240"/>
            <a:ext cx="109729" cy="2231137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14666976" y="4356960"/>
            <a:ext cx="3218689" cy="83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Differential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 Robot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14666976" y="5402406"/>
            <a:ext cx="3218689" cy="716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Jetson Nano/Orin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3D-Printed Chassis</a:t>
            </a:r>
            <a:endParaRPr/>
          </a:p>
        </p:txBody>
      </p:sp>
      <p:cxnSp>
        <p:nvCxnSpPr>
          <p:cNvPr id="212" name="Google Shape;212;p5"/>
          <p:cNvCxnSpPr/>
          <p:nvPr/>
        </p:nvCxnSpPr>
        <p:spPr>
          <a:xfrm>
            <a:off x="10725893" y="5996750"/>
            <a:ext cx="3694200" cy="0"/>
          </a:xfrm>
          <a:prstGeom prst="straightConnector1">
            <a:avLst/>
          </a:prstGeom>
          <a:noFill/>
          <a:ln cap="flat" cmpd="sng" w="381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p5"/>
          <p:cNvSpPr/>
          <p:nvPr/>
        </p:nvSpPr>
        <p:spPr>
          <a:xfrm>
            <a:off x="548640" y="6699849"/>
            <a:ext cx="17190720" cy="694945"/>
          </a:xfrm>
          <a:prstGeom prst="rect">
            <a:avLst/>
          </a:prstGeom>
          <a:solidFill>
            <a:srgbClr val="0A0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1005889" y="6680977"/>
            <a:ext cx="16276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Innovation: Lifelong SLAM Mode — map updates selectively when shelves are repositioned. No full remapping required. Dynamic social-force obstacle avoidance via costmap2d.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548640" y="7589519"/>
            <a:ext cx="17190720" cy="694945"/>
          </a:xfrm>
          <a:prstGeom prst="rect">
            <a:avLst/>
          </a:prstGeom>
          <a:solidFill>
            <a:srgbClr val="001A0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1005839" y="7514170"/>
            <a:ext cx="16276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 Autonomous Exploration: Frontier-based exploration (like AI open-world exploration) — robot identifies unmapped frontier boundaries and autonomously drives to explore them. Zero human guidance needed on first run.</a:t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548640" y="8503919"/>
            <a:ext cx="17190720" cy="1133857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1005839" y="8712533"/>
            <a:ext cx="16276321" cy="716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Evidence: IET Cyber-Systems 2025 — '2D LiDAR + IMU is the standard for warehouse AMRs'  ·  MDPI Sensors 2025 — 'SLAM enables GPS-free inspection robots'  ·  ScienceDirect 2025 — 'EKF fusion corrects wheel slip'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640080" y="1240313"/>
            <a:ext cx="17007840" cy="994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548639" y="2676068"/>
            <a:ext cx="8412600" cy="13899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694944" y="2986965"/>
            <a:ext cx="768000" cy="768000"/>
          </a:xfrm>
          <a:prstGeom prst="ellipse">
            <a:avLst/>
          </a:prstGeom>
          <a:solidFill>
            <a:srgbClr val="1A1A2E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786384" y="3102913"/>
            <a:ext cx="58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1700783" y="2745009"/>
            <a:ext cx="201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1700783" y="3213867"/>
            <a:ext cx="69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Robot placed in completely unknown warehouse. No prior map loaded. All sensors initialised.</a:t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548639" y="4321989"/>
            <a:ext cx="8412600" cy="13899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694944" y="4632884"/>
            <a:ext cx="768000" cy="768000"/>
          </a:xfrm>
          <a:prstGeom prst="ellipse">
            <a:avLst/>
          </a:prstGeom>
          <a:solidFill>
            <a:srgbClr val="1A1A2E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86384" y="4748833"/>
            <a:ext cx="58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1700783" y="4390929"/>
            <a:ext cx="201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Explore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1700783" y="4859786"/>
            <a:ext cx="69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Frontier-based exploration: robot identifies unmapped boundaries and autonomously explores them — like AI open-world navigation.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548639" y="5967908"/>
            <a:ext cx="8412600" cy="13899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694944" y="6278805"/>
            <a:ext cx="768000" cy="768000"/>
          </a:xfrm>
          <a:prstGeom prst="ellipse">
            <a:avLst/>
          </a:prstGeom>
          <a:solidFill>
            <a:srgbClr val="1A1A2E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86384" y="6394754"/>
            <a:ext cx="58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1700783" y="6036847"/>
            <a:ext cx="201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1700783" y="6505707"/>
            <a:ext cx="69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slam_toolbox builds live 2D occupancy grid in real time from LiDAR scans. Lifelong mode updates map when layout changes.</a:t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548639" y="7613829"/>
            <a:ext cx="8412600" cy="13899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694944" y="7924724"/>
            <a:ext cx="768000" cy="768000"/>
          </a:xfrm>
          <a:prstGeom prst="ellipse">
            <a:avLst/>
          </a:prstGeom>
          <a:solidFill>
            <a:srgbClr val="1A1A2E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86384" y="8040673"/>
            <a:ext cx="58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1700783" y="7682769"/>
            <a:ext cx="201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Fuse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1700783" y="8151627"/>
            <a:ext cx="69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EKF node fuses IMU + wheel odometry → /odometry/filtered. Corrects wheel slip on warehouse flooring at 30 Hz.</a:t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9290304" y="2676068"/>
            <a:ext cx="8412600" cy="13899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9436607" y="2986965"/>
            <a:ext cx="768000" cy="768000"/>
          </a:xfrm>
          <a:prstGeom prst="ellipse">
            <a:avLst/>
          </a:prstGeom>
          <a:solidFill>
            <a:srgbClr val="1A1A2E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9528047" y="3102913"/>
            <a:ext cx="58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10442447" y="2745009"/>
            <a:ext cx="201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10442447" y="3213867"/>
            <a:ext cx="69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Nav2 MPPI evaluates 1000+ candidate trajectories per cycle. Selects globally feasible, dynamically smooth path to next shelf.</a:t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9290304" y="4321989"/>
            <a:ext cx="8412600" cy="13899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9436607" y="4632884"/>
            <a:ext cx="768000" cy="768000"/>
          </a:xfrm>
          <a:prstGeom prst="ellipse">
            <a:avLst/>
          </a:prstGeom>
          <a:solidFill>
            <a:srgbClr val="1A1A2E"/>
          </a:solidFill>
          <a:ln cap="flat" cmpd="sng" w="25400">
            <a:solidFill>
              <a:srgbClr val="F4A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9528047" y="4748833"/>
            <a:ext cx="58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61" name="Google Shape;261;p6"/>
          <p:cNvSpPr txBox="1"/>
          <p:nvPr/>
        </p:nvSpPr>
        <p:spPr>
          <a:xfrm>
            <a:off x="10442447" y="4390929"/>
            <a:ext cx="201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/>
          </a:p>
        </p:txBody>
      </p:sp>
      <p:sp>
        <p:nvSpPr>
          <p:cNvPr id="262" name="Google Shape;262;p6"/>
          <p:cNvSpPr txBox="1"/>
          <p:nvPr/>
        </p:nvSpPr>
        <p:spPr>
          <a:xfrm>
            <a:off x="10442447" y="4859786"/>
            <a:ext cx="69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 detects humans/forklifts at 10+ FPS on Jetson. 3-frame temporal voting filters false positives. Costmap updated in &lt;100ms.</a:t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9290304" y="5967908"/>
            <a:ext cx="8412600" cy="13899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9436607" y="6278805"/>
            <a:ext cx="768000" cy="768000"/>
          </a:xfrm>
          <a:prstGeom prst="ellipse">
            <a:avLst/>
          </a:prstGeom>
          <a:solidFill>
            <a:srgbClr val="1A1A2E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9528047" y="6394754"/>
            <a:ext cx="58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66" name="Google Shape;266;p6"/>
          <p:cNvSpPr txBox="1"/>
          <p:nvPr/>
        </p:nvSpPr>
        <p:spPr>
          <a:xfrm>
            <a:off x="10442447" y="6036847"/>
            <a:ext cx="201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10442447" y="6505707"/>
            <a:ext cx="69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cmd_vel published at 20 Hz → micro-ROS converts to Left/Right wheel PWM. BehaviorTree handles retry on failure.</a:t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548640" y="9178045"/>
            <a:ext cx="17190600" cy="438900"/>
          </a:xfrm>
          <a:prstGeom prst="rect">
            <a:avLst/>
          </a:prstGeom>
          <a:solidFill>
            <a:srgbClr val="0A1A0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822959" y="9185241"/>
            <a:ext cx="1664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Data Flow:  LiDAR scan + IMU  →  EKF pose  →  Lifelong SLAM map  →  Frontier explorer / Nav2 planner  →  cmd_vel  →  Left/Right motor PWM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640080" y="1240313"/>
            <a:ext cx="17007840" cy="994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Techniques &amp; Algorithms</a:t>
            </a:r>
            <a:endParaRPr/>
          </a:p>
        </p:txBody>
      </p:sp>
      <p:graphicFrame>
        <p:nvGraphicFramePr>
          <p:cNvPr id="284" name="Google Shape;284;p7"/>
          <p:cNvGraphicFramePr/>
          <p:nvPr/>
        </p:nvGraphicFramePr>
        <p:xfrm>
          <a:off x="548640" y="26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{5CF689FE-88C6-4CD7-9D8E-EDAC9D5B20A5}</a:tableStyleId>
              </a:tblPr>
              <a:tblGrid>
                <a:gridCol w="3382025"/>
                <a:gridCol w="4844525"/>
                <a:gridCol w="8957800"/>
              </a:tblGrid>
              <a:tr h="39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00"/>
                        <a:buFont typeface="Helvetica Neue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Layer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00"/>
                        <a:buFont typeface="Helvetica Neue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Technique / Tool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00"/>
                        <a:buFont typeface="Helvetica Neue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Why Chosen — Research Basis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66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4D8"/>
                          </a:solidFill>
                        </a:rPr>
                        <a:t>Mapping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slam_toolbox — lifelong async mode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GPS-free adaptive mapping. IET 2025: 'LiDAR+IMU is standard for warehouse AGVs'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94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4D8"/>
                          </a:solidFill>
                        </a:rPr>
                        <a:t>Localisation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EKF — robot_localization pkg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Fuses IMU + odometry. Corrects wheel slip. ScienceDirect 2025: 'EKF dominant for AMR indoor'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</a:tr>
              <a:tr h="97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4D8"/>
                          </a:solidFill>
                        </a:rPr>
                        <a:t>Exploration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Frontier-based autonomous exploration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Robot maps unknown spaces like AI open-world — no human guidance on first run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97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4D8"/>
                          </a:solidFill>
                        </a:rPr>
                        <a:t>Obstacle Detect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YOLOv8 ROS2 wrapper + temporal voting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10+ FPS on Jetson. 3-frame voting eliminates false detections from shadows/reflections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</a:tr>
              <a:tr h="66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4D8"/>
                          </a:solidFill>
                        </a:rPr>
                        <a:t>Global Planning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SmacPlanner Hybrid (Nav2)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Obstacle-aware A* — plans around shelf rows. Handles narrow 1.5m aisles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64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4D8"/>
                          </a:solidFill>
                        </a:rPr>
                        <a:t>Local Planning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MPPI Planner (Nav2)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Evaluates 1000+ trajectories per cycle. Smooth, dynamically feasible paths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</a:tr>
              <a:tr h="64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4D8"/>
                          </a:solidFill>
                        </a:rPr>
                        <a:t>Mission Logic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BehaviorTree.CPP v4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Graceful failure handling: retry → rotate → clear costmap → safe stop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66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22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E87722"/>
                          </a:solidFill>
                        </a:rPr>
                        <a:t>Innovation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u="none" cap="none" strike="noStrike">
                          <a:solidFill>
                            <a:srgbClr val="FFFFFF"/>
                          </a:solidFill>
                        </a:rPr>
                        <a:t>Lifelong SLAM + Social Force Model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44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F4A44A"/>
                          </a:solidFill>
                        </a:rPr>
                        <a:t>Map updates when shelves move. Human-aware buffer zone — not just binary avoidance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0A00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7"/>
          <p:cNvSpPr txBox="1"/>
          <p:nvPr/>
        </p:nvSpPr>
        <p:spPr>
          <a:xfrm>
            <a:off x="640080" y="9405183"/>
            <a:ext cx="17007840" cy="392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Research references: IET Cyber-Systems 2025 · MDPI Sensors 2025 · ScienceDirect AMR Localisation 2025 · ScienceDirect UAV GPS-Denied Nav 2023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 txBox="1"/>
          <p:nvPr/>
        </p:nvSpPr>
        <p:spPr>
          <a:xfrm>
            <a:off x="640080" y="1240313"/>
            <a:ext cx="17007840" cy="994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ROS2 &amp; Gazebo Simulation Plan</a:t>
            </a:r>
            <a:endParaRPr/>
          </a:p>
        </p:txBody>
      </p:sp>
      <p:sp>
        <p:nvSpPr>
          <p:cNvPr id="300" name="Google Shape;300;p8"/>
          <p:cNvSpPr txBox="1"/>
          <p:nvPr/>
        </p:nvSpPr>
        <p:spPr>
          <a:xfrm>
            <a:off x="640080" y="2852264"/>
            <a:ext cx="8046720" cy="476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ROS2 Node Architecture</a:t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548640" y="3474720"/>
            <a:ext cx="3840480" cy="69494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749808" y="3609928"/>
            <a:ext cx="347472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/lidar_driver</a:t>
            </a:r>
            <a:endParaRPr/>
          </a:p>
        </p:txBody>
      </p:sp>
      <p:cxnSp>
        <p:nvCxnSpPr>
          <p:cNvPr id="303" name="Google Shape;303;p8"/>
          <p:cNvCxnSpPr/>
          <p:nvPr/>
        </p:nvCxnSpPr>
        <p:spPr>
          <a:xfrm>
            <a:off x="4425696" y="3822191"/>
            <a:ext cx="822961" cy="1"/>
          </a:xfrm>
          <a:prstGeom prst="straightConnector1">
            <a:avLst/>
          </a:prstGeom>
          <a:noFill/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4" name="Google Shape;304;p8"/>
          <p:cNvSpPr txBox="1"/>
          <p:nvPr/>
        </p:nvSpPr>
        <p:spPr>
          <a:xfrm>
            <a:off x="5468111" y="3609928"/>
            <a:ext cx="329184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 /scan (LaserScan, 10Hz)</a:t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548640" y="4315967"/>
            <a:ext cx="3840480" cy="69494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749808" y="4451176"/>
            <a:ext cx="347472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/imu_driver</a:t>
            </a:r>
            <a:endParaRPr/>
          </a:p>
        </p:txBody>
      </p:sp>
      <p:cxnSp>
        <p:nvCxnSpPr>
          <p:cNvPr id="307" name="Google Shape;307;p8"/>
          <p:cNvCxnSpPr/>
          <p:nvPr/>
        </p:nvCxnSpPr>
        <p:spPr>
          <a:xfrm>
            <a:off x="4425696" y="4663440"/>
            <a:ext cx="822961" cy="1"/>
          </a:xfrm>
          <a:prstGeom prst="straightConnector1">
            <a:avLst/>
          </a:prstGeom>
          <a:noFill/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8" name="Google Shape;308;p8"/>
          <p:cNvSpPr txBox="1"/>
          <p:nvPr/>
        </p:nvSpPr>
        <p:spPr>
          <a:xfrm>
            <a:off x="5468111" y="4451176"/>
            <a:ext cx="329184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 /imu/data (100Hz)</a:t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548640" y="5157215"/>
            <a:ext cx="3840480" cy="69494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749808" y="5292424"/>
            <a:ext cx="347472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/robot_localization</a:t>
            </a:r>
            <a:endParaRPr/>
          </a:p>
        </p:txBody>
      </p:sp>
      <p:cxnSp>
        <p:nvCxnSpPr>
          <p:cNvPr id="311" name="Google Shape;311;p8"/>
          <p:cNvCxnSpPr/>
          <p:nvPr/>
        </p:nvCxnSpPr>
        <p:spPr>
          <a:xfrm>
            <a:off x="4425696" y="5504688"/>
            <a:ext cx="822961" cy="1"/>
          </a:xfrm>
          <a:prstGeom prst="straightConnector1">
            <a:avLst/>
          </a:prstGeom>
          <a:noFill/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8"/>
          <p:cNvSpPr txBox="1"/>
          <p:nvPr/>
        </p:nvSpPr>
        <p:spPr>
          <a:xfrm>
            <a:off x="5468111" y="5292424"/>
            <a:ext cx="329184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 /odometry/filtered (EKF)</a:t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548640" y="5998464"/>
            <a:ext cx="3840480" cy="69494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749808" y="6133672"/>
            <a:ext cx="347472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/slam_toolbox</a:t>
            </a:r>
            <a:endParaRPr/>
          </a:p>
        </p:txBody>
      </p:sp>
      <p:cxnSp>
        <p:nvCxnSpPr>
          <p:cNvPr id="315" name="Google Shape;315;p8"/>
          <p:cNvCxnSpPr/>
          <p:nvPr/>
        </p:nvCxnSpPr>
        <p:spPr>
          <a:xfrm>
            <a:off x="4425696" y="6345935"/>
            <a:ext cx="822961" cy="1"/>
          </a:xfrm>
          <a:prstGeom prst="straightConnector1">
            <a:avLst/>
          </a:prstGeom>
          <a:noFill/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6" name="Google Shape;316;p8"/>
          <p:cNvSpPr txBox="1"/>
          <p:nvPr/>
        </p:nvSpPr>
        <p:spPr>
          <a:xfrm>
            <a:off x="5468111" y="6133672"/>
            <a:ext cx="329184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 /map + /tf (lifelong SLAM)</a:t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548640" y="6839711"/>
            <a:ext cx="3840480" cy="69494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749808" y="6974920"/>
            <a:ext cx="347472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/yolo_detector</a:t>
            </a:r>
            <a:endParaRPr/>
          </a:p>
        </p:txBody>
      </p:sp>
      <p:cxnSp>
        <p:nvCxnSpPr>
          <p:cNvPr id="319" name="Google Shape;319;p8"/>
          <p:cNvCxnSpPr/>
          <p:nvPr/>
        </p:nvCxnSpPr>
        <p:spPr>
          <a:xfrm>
            <a:off x="4425696" y="7187183"/>
            <a:ext cx="822961" cy="1"/>
          </a:xfrm>
          <a:prstGeom prst="straightConnector1">
            <a:avLst/>
          </a:prstGeom>
          <a:noFill/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" name="Google Shape;320;p8"/>
          <p:cNvSpPr txBox="1"/>
          <p:nvPr/>
        </p:nvSpPr>
        <p:spPr>
          <a:xfrm>
            <a:off x="5468111" y="6974920"/>
            <a:ext cx="329184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 /obstacle_markers</a:t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548640" y="7680959"/>
            <a:ext cx="3840480" cy="69494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749808" y="7816168"/>
            <a:ext cx="347472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/nav2_stack (MPPI)</a:t>
            </a:r>
            <a:endParaRPr/>
          </a:p>
        </p:txBody>
      </p:sp>
      <p:cxnSp>
        <p:nvCxnSpPr>
          <p:cNvPr id="323" name="Google Shape;323;p8"/>
          <p:cNvCxnSpPr/>
          <p:nvPr/>
        </p:nvCxnSpPr>
        <p:spPr>
          <a:xfrm>
            <a:off x="4425696" y="8028431"/>
            <a:ext cx="822961" cy="1"/>
          </a:xfrm>
          <a:prstGeom prst="straightConnector1">
            <a:avLst/>
          </a:prstGeom>
          <a:noFill/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4" name="Google Shape;324;p8"/>
          <p:cNvSpPr txBox="1"/>
          <p:nvPr/>
        </p:nvSpPr>
        <p:spPr>
          <a:xfrm>
            <a:off x="5468111" y="7816168"/>
            <a:ext cx="329184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 /cmd_vel (20 Hz)</a:t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548640" y="8522207"/>
            <a:ext cx="3840480" cy="69494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749808" y="8657415"/>
            <a:ext cx="3474721" cy="424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/frontier_explorer</a:t>
            </a:r>
            <a:endParaRPr/>
          </a:p>
        </p:txBody>
      </p:sp>
      <p:cxnSp>
        <p:nvCxnSpPr>
          <p:cNvPr id="327" name="Google Shape;327;p8"/>
          <p:cNvCxnSpPr/>
          <p:nvPr/>
        </p:nvCxnSpPr>
        <p:spPr>
          <a:xfrm>
            <a:off x="4425696" y="8869680"/>
            <a:ext cx="822961" cy="1"/>
          </a:xfrm>
          <a:prstGeom prst="straightConnector1">
            <a:avLst/>
          </a:prstGeom>
          <a:noFill/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8" name="Google Shape;328;p8"/>
          <p:cNvSpPr txBox="1"/>
          <p:nvPr/>
        </p:nvSpPr>
        <p:spPr>
          <a:xfrm>
            <a:off x="5468111" y="8657415"/>
            <a:ext cx="3291841" cy="424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→ /goal_pose (explore mode)</a:t>
            </a:r>
            <a:endParaRPr/>
          </a:p>
        </p:txBody>
      </p:sp>
      <p:cxnSp>
        <p:nvCxnSpPr>
          <p:cNvPr id="329" name="Google Shape;329;p8"/>
          <p:cNvCxnSpPr/>
          <p:nvPr/>
        </p:nvCxnSpPr>
        <p:spPr>
          <a:xfrm flipH="1">
            <a:off x="9170775" y="3123325"/>
            <a:ext cx="26400" cy="5821500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8"/>
          <p:cNvSpPr txBox="1"/>
          <p:nvPr/>
        </p:nvSpPr>
        <p:spPr>
          <a:xfrm>
            <a:off x="9509759" y="2852264"/>
            <a:ext cx="8046721" cy="476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Gazebo Simulation Environment</a:t>
            </a:r>
            <a:endParaRPr/>
          </a:p>
        </p:txBody>
      </p:sp>
      <p:sp>
        <p:nvSpPr>
          <p:cNvPr id="331" name="Google Shape;331;p8"/>
          <p:cNvSpPr txBox="1"/>
          <p:nvPr/>
        </p:nvSpPr>
        <p:spPr>
          <a:xfrm>
            <a:off x="9507622" y="3632296"/>
            <a:ext cx="8046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20m × 15m warehouse, 6 shelf rows (A–F), 1.5m aisles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lphaL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18 shelf waypoints matching real warehouse layout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lphaL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Gaussian LiDAR noise: σ = 0.02m (RPLiDAR A1 spec)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Gazebo pedestrian actor — dynamic obstacle crossing aisles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lphaL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IMU plugin noise matching MPU-9250 datasheet parameters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Differential drive + caster wheel physics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lphaL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Charging dock + packing station modelled as reference points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9326869" y="7534659"/>
            <a:ext cx="8229600" cy="1280100"/>
          </a:xfrm>
          <a:prstGeom prst="rect">
            <a:avLst/>
          </a:prstGeom>
          <a:solidFill>
            <a:srgbClr val="0A1A0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9326869" y="7534659"/>
            <a:ext cx="8229600" cy="73200"/>
          </a:xfrm>
          <a:prstGeom prst="rect">
            <a:avLst/>
          </a:prstGeom>
          <a:solidFill>
            <a:srgbClr val="50C878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9601190" y="7616292"/>
            <a:ext cx="768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Differential Drive Control Loop</a:t>
            </a:r>
            <a:endParaRPr/>
          </a:p>
        </p:txBody>
      </p:sp>
      <p:sp>
        <p:nvSpPr>
          <p:cNvPr id="335" name="Google Shape;335;p8"/>
          <p:cNvSpPr txBox="1"/>
          <p:nvPr/>
        </p:nvSpPr>
        <p:spPr>
          <a:xfrm>
            <a:off x="9601190" y="8045026"/>
            <a:ext cx="768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Nav2 → /cmd_vel (linear.x + angular.z) → micro-ROS → Left/Right PWM → Encoder feedback → EKF loop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 txBox="1"/>
          <p:nvPr/>
        </p:nvSpPr>
        <p:spPr>
          <a:xfrm>
            <a:off x="640080" y="1240313"/>
            <a:ext cx="17007840" cy="994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Processing &amp; Robustness</a:t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548640" y="2779776"/>
            <a:ext cx="17190720" cy="1133857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548640" y="2779776"/>
            <a:ext cx="109729" cy="1133857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 txBox="1"/>
          <p:nvPr/>
        </p:nvSpPr>
        <p:spPr>
          <a:xfrm>
            <a:off x="1005839" y="2885293"/>
            <a:ext cx="4754882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Frame rate / latency</a:t>
            </a:r>
            <a:endParaRPr/>
          </a:p>
        </p:txBody>
      </p:sp>
      <p:cxnSp>
        <p:nvCxnSpPr>
          <p:cNvPr id="353" name="Google Shape;353;p9"/>
          <p:cNvCxnSpPr/>
          <p:nvPr/>
        </p:nvCxnSpPr>
        <p:spPr>
          <a:xfrm>
            <a:off x="6126479" y="2926079"/>
            <a:ext cx="1" cy="841249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9"/>
          <p:cNvSpPr txBox="1"/>
          <p:nvPr/>
        </p:nvSpPr>
        <p:spPr>
          <a:xfrm>
            <a:off x="6492239" y="2978493"/>
            <a:ext cx="10972801" cy="73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 TensorRT INT8 on Jetson Orin → 30 FPS inference. slam_toolbox async mode — SLAM runs independently without blocking Nav2 control loop.</a:t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548640" y="4133088"/>
            <a:ext cx="17190720" cy="1133857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48640" y="4133088"/>
            <a:ext cx="109729" cy="1133857"/>
          </a:xfrm>
          <a:prstGeom prst="rect">
            <a:avLst/>
          </a:prstGeom>
          <a:solidFill>
            <a:srgbClr val="00B4D8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1005839" y="4238605"/>
            <a:ext cx="4754882" cy="483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False obstacle detections</a:t>
            </a:r>
            <a:endParaRPr/>
          </a:p>
        </p:txBody>
      </p:sp>
      <p:cxnSp>
        <p:nvCxnSpPr>
          <p:cNvPr id="358" name="Google Shape;358;p9"/>
          <p:cNvCxnSpPr/>
          <p:nvPr/>
        </p:nvCxnSpPr>
        <p:spPr>
          <a:xfrm>
            <a:off x="6126479" y="4279391"/>
            <a:ext cx="1" cy="841249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9"/>
          <p:cNvSpPr txBox="1"/>
          <p:nvPr/>
        </p:nvSpPr>
        <p:spPr>
          <a:xfrm>
            <a:off x="6492239" y="4331805"/>
            <a:ext cx="10972801" cy="73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Multi-frame temporal voting: obstacle confirmed only after 3 consecutive detections. Eliminates sensor noise, shadows, and LiDAR reflections from metal shelving.</a:t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548640" y="5486400"/>
            <a:ext cx="17190720" cy="1133856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48640" y="5486400"/>
            <a:ext cx="109729" cy="1133856"/>
          </a:xfrm>
          <a:prstGeom prst="rect">
            <a:avLst/>
          </a:prstGeom>
          <a:solidFill>
            <a:srgbClr val="50C878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 txBox="1"/>
          <p:nvPr/>
        </p:nvSpPr>
        <p:spPr>
          <a:xfrm>
            <a:off x="1005839" y="5591917"/>
            <a:ext cx="4754882" cy="483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SLAM drift accumulation</a:t>
            </a:r>
            <a:endParaRPr/>
          </a:p>
        </p:txBody>
      </p:sp>
      <p:cxnSp>
        <p:nvCxnSpPr>
          <p:cNvPr id="363" name="Google Shape;363;p9"/>
          <p:cNvCxnSpPr/>
          <p:nvPr/>
        </p:nvCxnSpPr>
        <p:spPr>
          <a:xfrm>
            <a:off x="6126479" y="5632703"/>
            <a:ext cx="1" cy="841249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9"/>
          <p:cNvSpPr txBox="1"/>
          <p:nvPr/>
        </p:nvSpPr>
        <p:spPr>
          <a:xfrm>
            <a:off x="6492239" y="5685117"/>
            <a:ext cx="10972801" cy="73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Loop closure in slam_toolbox: when robot revisits a location, scan-matching corrects accumulated pose error automatically. Error &lt;8cm RMSE over 100m.</a:t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548640" y="6839711"/>
            <a:ext cx="17190720" cy="1133857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548640" y="6839711"/>
            <a:ext cx="109729" cy="1133857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 txBox="1"/>
          <p:nvPr/>
        </p:nvSpPr>
        <p:spPr>
          <a:xfrm>
            <a:off x="1005839" y="6945228"/>
            <a:ext cx="4754882" cy="483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Navigation deadlock/stuck</a:t>
            </a:r>
            <a:endParaRPr/>
          </a:p>
        </p:txBody>
      </p:sp>
      <p:cxnSp>
        <p:nvCxnSpPr>
          <p:cNvPr id="368" name="Google Shape;368;p9"/>
          <p:cNvCxnSpPr/>
          <p:nvPr/>
        </p:nvCxnSpPr>
        <p:spPr>
          <a:xfrm>
            <a:off x="6126479" y="6986016"/>
            <a:ext cx="1" cy="841249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9"/>
          <p:cNvSpPr txBox="1"/>
          <p:nvPr/>
        </p:nvSpPr>
        <p:spPr>
          <a:xfrm>
            <a:off x="6492239" y="7038429"/>
            <a:ext cx="10972801" cy="73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BehaviorTree recovery: rotate-in-place → clear local costmap → re-plan. If 3 retries fail → safe stop + log event. No manual intervention needed.</a:t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548640" y="8193023"/>
            <a:ext cx="17190720" cy="1133857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548640" y="8193023"/>
            <a:ext cx="109729" cy="1133857"/>
          </a:xfrm>
          <a:prstGeom prst="rect">
            <a:avLst/>
          </a:prstGeom>
          <a:solidFill>
            <a:srgbClr val="F4A44A"/>
          </a:solidFill>
          <a:ln cap="flat" cmpd="sng" w="25400">
            <a:solidFill>
              <a:srgbClr val="F4A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 txBox="1"/>
          <p:nvPr/>
        </p:nvSpPr>
        <p:spPr>
          <a:xfrm>
            <a:off x="1005839" y="8298540"/>
            <a:ext cx="4754882" cy="483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Dynamic obstacle crossing</a:t>
            </a:r>
            <a:endParaRPr/>
          </a:p>
        </p:txBody>
      </p:sp>
      <p:cxnSp>
        <p:nvCxnSpPr>
          <p:cNvPr id="373" name="Google Shape;373;p9"/>
          <p:cNvCxnSpPr/>
          <p:nvPr/>
        </p:nvCxnSpPr>
        <p:spPr>
          <a:xfrm>
            <a:off x="6126479" y="8339328"/>
            <a:ext cx="1" cy="841249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9"/>
          <p:cNvSpPr txBox="1"/>
          <p:nvPr/>
        </p:nvSpPr>
        <p:spPr>
          <a:xfrm>
            <a:off x="6492239" y="8391741"/>
            <a:ext cx="10972801" cy="73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MPPI evaluates 1000+ trajectories each cycle — always picks globally feasible path. Social Force Model adds human-aware buffer zone (1.2m from persons).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0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 txBox="1"/>
          <p:nvPr/>
        </p:nvSpPr>
        <p:spPr>
          <a:xfrm>
            <a:off x="640080" y="1240313"/>
            <a:ext cx="17007840" cy="994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Round – Adaptation Strategy</a:t>
            </a:r>
            <a:endParaRPr/>
          </a:p>
        </p:txBody>
      </p:sp>
      <p:sp>
        <p:nvSpPr>
          <p:cNvPr id="389" name="Google Shape;389;p10"/>
          <p:cNvSpPr txBox="1"/>
          <p:nvPr/>
        </p:nvSpPr>
        <p:spPr>
          <a:xfrm>
            <a:off x="640079" y="2852264"/>
            <a:ext cx="8229601" cy="476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Sensor Calibration &amp; Real-World Adaptation</a:t>
            </a:r>
            <a:endParaRPr/>
          </a:p>
        </p:txBody>
      </p:sp>
      <p:sp>
        <p:nvSpPr>
          <p:cNvPr id="390" name="Google Shape;390;p10"/>
          <p:cNvSpPr txBox="1"/>
          <p:nvPr/>
        </p:nvSpPr>
        <p:spPr>
          <a:xfrm>
            <a:off x="640079" y="3808565"/>
            <a:ext cx="8229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Camera calibration (checkerboard)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ROS2 camera_calibration pkg → intrinsics matrix for YOLOv8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LiDAR noise handling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Voxel filter on /scan before slam_toolbox. Removes metal reflections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IMU static calibration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Gyro bias + accelerometer offsets measured at startup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Real-world lighting adaptation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Auto-exposure + histogram equalisation pre-YOLOv8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Floor slip correction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EKF down-weights odometry, up-weights IMU during turns</a:t>
            </a:r>
            <a:endParaRPr/>
          </a:p>
        </p:txBody>
      </p:sp>
      <p:cxnSp>
        <p:nvCxnSpPr>
          <p:cNvPr id="391" name="Google Shape;391;p10"/>
          <p:cNvCxnSpPr/>
          <p:nvPr/>
        </p:nvCxnSpPr>
        <p:spPr>
          <a:xfrm flipH="1">
            <a:off x="9326880" y="2779776"/>
            <a:ext cx="1" cy="6675119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10"/>
          <p:cNvSpPr txBox="1"/>
          <p:nvPr/>
        </p:nvSpPr>
        <p:spPr>
          <a:xfrm>
            <a:off x="9692640" y="2852264"/>
            <a:ext cx="7863838" cy="476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Safety, Reliability &amp; Competition Strategy</a:t>
            </a:r>
            <a:endParaRPr/>
          </a:p>
        </p:txBody>
      </p:sp>
      <p:sp>
        <p:nvSpPr>
          <p:cNvPr id="393" name="Google Shape;393;p10"/>
          <p:cNvSpPr txBox="1"/>
          <p:nvPr/>
        </p:nvSpPr>
        <p:spPr>
          <a:xfrm>
            <a:off x="9692640" y="3656165"/>
            <a:ext cx="78639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Arena first-run mapping (competition demo)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Robot does live mapping of competition arena before demo starts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Teleop override always on standby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Joystick node → instant autonomous resume after manual override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 thermal management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Jetson MAX power mode + 5V cooling fan pre-mounted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Fallback: LiDAR-only navigation (no camera)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If camera fails, Nav2 costmap uses LiDAR alone — still navigates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685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AutoNum type="arabicPeriod"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Hot-swap battery (3S LiPo)</a:t>
            </a:r>
            <a:endParaRPr/>
          </a:p>
          <a:p>
            <a:pPr indent="-508000" lvl="1" marL="762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A44A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Second charged battery on standby — 90 second swap time</a:t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548640" y="8814816"/>
            <a:ext cx="17190720" cy="914401"/>
          </a:xfrm>
          <a:prstGeom prst="rect">
            <a:avLst/>
          </a:prstGeom>
          <a:solidFill>
            <a:srgbClr val="0A0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1005839" y="8903804"/>
            <a:ext cx="16276321" cy="736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Hardware:  RPLiDAR A1  |  MPU-9250 IMU  |  USB Camera (640×480)  |  Cytron MDD10A Motor Driver  |  STM32 (micro-ROS)  |  NVIDIA Jetson Nano/Orin  |  3D-Printed Chassis  |  3S 5000mAh LiPo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1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 txBox="1"/>
          <p:nvPr/>
        </p:nvSpPr>
        <p:spPr>
          <a:xfrm>
            <a:off x="640080" y="1240313"/>
            <a:ext cx="17007840" cy="994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&amp; Success Metrics</a:t>
            </a:r>
            <a:endParaRPr/>
          </a:p>
        </p:txBody>
      </p:sp>
      <p:graphicFrame>
        <p:nvGraphicFramePr>
          <p:cNvPr id="410" name="Google Shape;410;p11"/>
          <p:cNvGraphicFramePr/>
          <p:nvPr/>
        </p:nvGraphicFramePr>
        <p:xfrm>
          <a:off x="548640" y="27066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{5CF689FE-88C6-4CD7-9D8E-EDAC9D5B20A5}</a:tableStyleId>
              </a:tblPr>
              <a:tblGrid>
                <a:gridCol w="4113275"/>
                <a:gridCol w="3199225"/>
                <a:gridCol w="5484375"/>
                <a:gridCol w="4387500"/>
              </a:tblGrid>
              <a:tr h="48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00"/>
                        <a:buFont typeface="Helvetica Neue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00"/>
                        <a:buFont typeface="Helvetica Neue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Target Value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00"/>
                        <a:buFont typeface="Helvetica Neue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Measurement Method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00"/>
                        <a:buFont typeface="Helvetica Neue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Evidence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807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22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E87722"/>
                          </a:solidFill>
                        </a:rPr>
                        <a:t>Map coverage accuracy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0C87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50C878"/>
                          </a:solidFill>
                        </a:rPr>
                        <a:t>&gt;95% arena covered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RMSE vs Gazebo ground-truth map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00B4D8"/>
                          </a:solidFill>
                        </a:rPr>
                        <a:t>slam_toolbox loop closure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78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22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E87722"/>
                          </a:solidFill>
                        </a:rPr>
                        <a:t>Localisation error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0C87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50C878"/>
                          </a:solidFill>
                        </a:rPr>
                        <a:t>&lt;8 cm RMSE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Pose vs ground-truth over 100m travel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00B4D8"/>
                          </a:solidFill>
                        </a:rPr>
                        <a:t>robot_localization EKF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</a:tr>
              <a:tr h="807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22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E87722"/>
                          </a:solidFill>
                        </a:rPr>
                        <a:t>Obstacle avoidance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0C87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50C878"/>
                          </a:solidFill>
                        </a:rPr>
                        <a:t>Zero collisions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Gazebo collision sensor over full run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00B4D8"/>
                          </a:solidFill>
                        </a:rPr>
                        <a:t>YOLOv8 + MPPI + Social Force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807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22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E87722"/>
                          </a:solidFill>
                        </a:rPr>
                        <a:t>Symbol/marker detection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0C87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50C878"/>
                          </a:solidFill>
                        </a:rPr>
                        <a:t>&gt;90% accuracy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ArUco detection rate on shelf labels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00B4D8"/>
                          </a:solidFill>
                        </a:rPr>
                        <a:t>YOLOv8 + OpenCV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</a:tr>
              <a:tr h="807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22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E87722"/>
                          </a:solidFill>
                        </a:rPr>
                        <a:t>Waypoint success rate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0C87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50C878"/>
                          </a:solidFill>
                        </a:rPr>
                        <a:t>&gt;90% of shelves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Waypoints reached / total commanded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00B4D8"/>
                          </a:solidFill>
                        </a:rPr>
                        <a:t>mission_controller BT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807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22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E87722"/>
                          </a:solidFill>
                        </a:rPr>
                        <a:t>Full patrol time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0C87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50C878"/>
                          </a:solidFill>
                        </a:rPr>
                        <a:t>&lt;5 min (18 shelves)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ROS2 clock: mission start → dock return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00B4D8"/>
                          </a:solidFill>
                        </a:rPr>
                        <a:t>Nav2 action timestamps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</a:tr>
              <a:tr h="807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22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E87722"/>
                          </a:solidFill>
                        </a:rPr>
                        <a:t>Replanning latency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0C87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50C878"/>
                          </a:solidFill>
                        </a:rPr>
                        <a:t>&lt;500 ms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Obstacle detect → new path published delta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00B4D8"/>
                          </a:solidFill>
                        </a:rPr>
                        <a:t>MPPI real-time evaluation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807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722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E87722"/>
                          </a:solidFill>
                        </a:rPr>
                        <a:t>YOLOv8 inference fps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0C878"/>
                        </a:buClr>
                        <a:buSzPts val="2000"/>
                        <a:buFont typeface="Helvetica Neue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50C878"/>
                          </a:solidFill>
                        </a:rPr>
                        <a:t>&gt;15 FPS on Jetson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AAAAA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AAAAAA"/>
                          </a:solidFill>
                        </a:rPr>
                        <a:t>ros2 topic hz /obstacle_markers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 u="none" cap="none" strike="noStrike">
                          <a:solidFill>
                            <a:srgbClr val="00B4D8"/>
                          </a:solidFill>
                        </a:rPr>
                        <a:t>TensorRT INT8 quantised model</a:t>
                      </a:r>
                      <a:endParaRPr/>
                    </a:p>
                  </a:txBody>
                  <a:tcPr marT="45725" marB="45725" marR="45725" marL="45725">
                    <a:lnL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A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2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640080" y="1240313"/>
            <a:ext cx="17007840" cy="994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 Plan &amp; Timeline</a:t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402336" y="2834639"/>
            <a:ext cx="2743201" cy="950975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402336" y="2834639"/>
            <a:ext cx="2743201" cy="64009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493776" y="2875632"/>
            <a:ext cx="2560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Proposal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Mar 2</a:t>
            </a:r>
            <a:r>
              <a:rPr b="1" lang="en-US" sz="2200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402336" y="3785615"/>
            <a:ext cx="2743201" cy="585217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493776" y="3865960"/>
            <a:ext cx="256032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Round 1 Submission</a:t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402336" y="4572000"/>
            <a:ext cx="2743201" cy="1426464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402336" y="4572000"/>
            <a:ext cx="91441" cy="1426464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 txBox="1"/>
          <p:nvPr/>
        </p:nvSpPr>
        <p:spPr>
          <a:xfrm>
            <a:off x="658368" y="4962215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 PPTX + proposal submitted</a:t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402336" y="6181344"/>
            <a:ext cx="2743201" cy="1426465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02336" y="6181344"/>
            <a:ext cx="91441" cy="1426465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 txBox="1"/>
          <p:nvPr/>
        </p:nvSpPr>
        <p:spPr>
          <a:xfrm>
            <a:off x="658368" y="6571559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ROS2 workspace structured</a:t>
            </a:r>
            <a:endParaRPr/>
          </a:p>
        </p:txBody>
      </p:sp>
      <p:sp>
        <p:nvSpPr>
          <p:cNvPr id="436" name="Google Shape;436;p12"/>
          <p:cNvSpPr/>
          <p:nvPr/>
        </p:nvSpPr>
        <p:spPr>
          <a:xfrm>
            <a:off x="402336" y="7790688"/>
            <a:ext cx="2743201" cy="142646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402336" y="7790688"/>
            <a:ext cx="91441" cy="1426465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>
            <a:off x="658368" y="8180903"/>
            <a:ext cx="2340865" cy="64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 architecture documented</a:t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3328415" y="2834639"/>
            <a:ext cx="2743201" cy="950975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3328415" y="2834639"/>
            <a:ext cx="2743201" cy="64009"/>
          </a:xfrm>
          <a:prstGeom prst="rect">
            <a:avLst/>
          </a:prstGeom>
          <a:solidFill>
            <a:srgbClr val="00B4D8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3419855" y="2875632"/>
            <a:ext cx="2560322" cy="83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Apr 1–7</a:t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3328415" y="3785615"/>
            <a:ext cx="2743201" cy="585217"/>
          </a:xfrm>
          <a:prstGeom prst="rect">
            <a:avLst/>
          </a:prstGeom>
          <a:solidFill>
            <a:srgbClr val="00B4D8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 txBox="1"/>
          <p:nvPr/>
        </p:nvSpPr>
        <p:spPr>
          <a:xfrm>
            <a:off x="3419855" y="3865960"/>
            <a:ext cx="2560322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Simulation Phase</a:t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3328415" y="4572000"/>
            <a:ext cx="2743201" cy="1426464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3328415" y="4572000"/>
            <a:ext cx="91441" cy="1426464"/>
          </a:xfrm>
          <a:prstGeom prst="rect">
            <a:avLst/>
          </a:prstGeom>
          <a:solidFill>
            <a:srgbClr val="00B4D8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3584448" y="4962215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Gazebo warehouse world (20×15m)</a:t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3328415" y="6181344"/>
            <a:ext cx="2743201" cy="1426465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3328415" y="6181344"/>
            <a:ext cx="91441" cy="1426465"/>
          </a:xfrm>
          <a:prstGeom prst="rect">
            <a:avLst/>
          </a:prstGeom>
          <a:solidFill>
            <a:srgbClr val="00B4D8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 txBox="1"/>
          <p:nvPr/>
        </p:nvSpPr>
        <p:spPr>
          <a:xfrm>
            <a:off x="3584448" y="6571559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URDF robot model + diff drive</a:t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3328415" y="7790688"/>
            <a:ext cx="2743201" cy="142646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3328415" y="7790688"/>
            <a:ext cx="91441" cy="1426465"/>
          </a:xfrm>
          <a:prstGeom prst="rect">
            <a:avLst/>
          </a:prstGeom>
          <a:solidFill>
            <a:srgbClr val="00B4D8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 txBox="1"/>
          <p:nvPr/>
        </p:nvSpPr>
        <p:spPr>
          <a:xfrm>
            <a:off x="3584448" y="8180903"/>
            <a:ext cx="2340865" cy="64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slam_toolbox + Nav2 first integration</a:t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6254496" y="2834639"/>
            <a:ext cx="2743201" cy="950975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6254496" y="2834639"/>
            <a:ext cx="2743201" cy="64009"/>
          </a:xfrm>
          <a:prstGeom prst="rect">
            <a:avLst/>
          </a:prstGeom>
          <a:solidFill>
            <a:srgbClr val="50C878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6345936" y="2875632"/>
            <a:ext cx="2560321" cy="83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Apr 8–10</a:t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6254496" y="3785615"/>
            <a:ext cx="2743201" cy="585217"/>
          </a:xfrm>
          <a:prstGeom prst="rect">
            <a:avLst/>
          </a:prstGeom>
          <a:solidFill>
            <a:srgbClr val="50C878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 txBox="1"/>
          <p:nvPr/>
        </p:nvSpPr>
        <p:spPr>
          <a:xfrm>
            <a:off x="6345936" y="3865960"/>
            <a:ext cx="256032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Navigation Testing</a:t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6254496" y="4572000"/>
            <a:ext cx="2743201" cy="1426464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6254496" y="4572000"/>
            <a:ext cx="91441" cy="1426464"/>
          </a:xfrm>
          <a:prstGeom prst="rect">
            <a:avLst/>
          </a:prstGeom>
          <a:solidFill>
            <a:srgbClr val="50C878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 txBox="1"/>
          <p:nvPr/>
        </p:nvSpPr>
        <p:spPr>
          <a:xfrm>
            <a:off x="6510528" y="4962215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MPPI planner tuned in sim</a:t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6254496" y="6181344"/>
            <a:ext cx="2743201" cy="1426465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6254496" y="6181344"/>
            <a:ext cx="91441" cy="1426465"/>
          </a:xfrm>
          <a:prstGeom prst="rect">
            <a:avLst/>
          </a:prstGeom>
          <a:solidFill>
            <a:srgbClr val="50C878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6510528" y="6571559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SLAM mapping demo saved</a:t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6254496" y="7790688"/>
            <a:ext cx="2743201" cy="142646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6254496" y="7790688"/>
            <a:ext cx="91441" cy="1426465"/>
          </a:xfrm>
          <a:prstGeom prst="rect">
            <a:avLst/>
          </a:prstGeom>
          <a:solidFill>
            <a:srgbClr val="50C878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 txBox="1"/>
          <p:nvPr/>
        </p:nvSpPr>
        <p:spPr>
          <a:xfrm>
            <a:off x="6510528" y="8180903"/>
            <a:ext cx="2340865" cy="64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5 test scenarios scripted &amp; run</a:t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9180576" y="2834639"/>
            <a:ext cx="2743201" cy="950975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9180576" y="2834639"/>
            <a:ext cx="2743201" cy="64009"/>
          </a:xfrm>
          <a:prstGeom prst="rect">
            <a:avLst/>
          </a:prstGeom>
          <a:solidFill>
            <a:srgbClr val="4A90D9"/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 txBox="1"/>
          <p:nvPr/>
        </p:nvSpPr>
        <p:spPr>
          <a:xfrm>
            <a:off x="9272016" y="2875632"/>
            <a:ext cx="2560321" cy="83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Apr 11–13</a:t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9180576" y="3785615"/>
            <a:ext cx="2743201" cy="585217"/>
          </a:xfrm>
          <a:prstGeom prst="rect">
            <a:avLst/>
          </a:prstGeom>
          <a:solidFill>
            <a:srgbClr val="4A90D9"/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 txBox="1"/>
          <p:nvPr/>
        </p:nvSpPr>
        <p:spPr>
          <a:xfrm>
            <a:off x="9272016" y="3865960"/>
            <a:ext cx="256032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Perception Layer</a:t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9180576" y="4572000"/>
            <a:ext cx="2743201" cy="1426464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9180576" y="4572000"/>
            <a:ext cx="91441" cy="1426464"/>
          </a:xfrm>
          <a:prstGeom prst="rect">
            <a:avLst/>
          </a:prstGeom>
          <a:solidFill>
            <a:srgbClr val="4A90D9"/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 txBox="1"/>
          <p:nvPr/>
        </p:nvSpPr>
        <p:spPr>
          <a:xfrm>
            <a:off x="9436608" y="4962215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 ROS2 wrapper integrated</a:t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9180576" y="6181344"/>
            <a:ext cx="2743201" cy="1426465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9180576" y="6181344"/>
            <a:ext cx="91441" cy="1426465"/>
          </a:xfrm>
          <a:prstGeom prst="rect">
            <a:avLst/>
          </a:prstGeom>
          <a:solidFill>
            <a:srgbClr val="4A90D9"/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 txBox="1"/>
          <p:nvPr/>
        </p:nvSpPr>
        <p:spPr>
          <a:xfrm>
            <a:off x="9436608" y="6571559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costmap2d dynamic layer tuned</a:t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9180576" y="7790688"/>
            <a:ext cx="2743201" cy="142646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9180576" y="7790688"/>
            <a:ext cx="91441" cy="1426465"/>
          </a:xfrm>
          <a:prstGeom prst="rect">
            <a:avLst/>
          </a:prstGeom>
          <a:solidFill>
            <a:srgbClr val="4A90D9"/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 txBox="1"/>
          <p:nvPr/>
        </p:nvSpPr>
        <p:spPr>
          <a:xfrm>
            <a:off x="9436608" y="8180903"/>
            <a:ext cx="2340865" cy="64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Frontier explorer validated</a:t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12106656" y="2834639"/>
            <a:ext cx="2743201" cy="950975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12106656" y="2834639"/>
            <a:ext cx="2743201" cy="64009"/>
          </a:xfrm>
          <a:prstGeom prst="rect">
            <a:avLst/>
          </a:prstGeom>
          <a:solidFill>
            <a:srgbClr val="F4A44A"/>
          </a:solidFill>
          <a:ln cap="flat" cmpd="sng" w="25400">
            <a:solidFill>
              <a:srgbClr val="F4A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 txBox="1"/>
          <p:nvPr/>
        </p:nvSpPr>
        <p:spPr>
          <a:xfrm>
            <a:off x="12198096" y="2875632"/>
            <a:ext cx="2560321" cy="83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4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4A44A"/>
                </a:solidFill>
                <a:latin typeface="Calibri"/>
                <a:ea typeface="Calibri"/>
                <a:cs typeface="Calibri"/>
                <a:sym typeface="Calibri"/>
              </a:rPr>
              <a:t>Apr 14–16</a:t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12106656" y="3785615"/>
            <a:ext cx="2743201" cy="585217"/>
          </a:xfrm>
          <a:prstGeom prst="rect">
            <a:avLst/>
          </a:prstGeom>
          <a:solidFill>
            <a:srgbClr val="F4A44A"/>
          </a:solidFill>
          <a:ln cap="flat" cmpd="sng" w="25400">
            <a:solidFill>
              <a:srgbClr val="F4A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 txBox="1"/>
          <p:nvPr/>
        </p:nvSpPr>
        <p:spPr>
          <a:xfrm>
            <a:off x="12198096" y="3865960"/>
            <a:ext cx="256032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 Build</a:t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12106656" y="4572000"/>
            <a:ext cx="2743201" cy="1426464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12106656" y="4572000"/>
            <a:ext cx="91441" cy="1426464"/>
          </a:xfrm>
          <a:prstGeom prst="rect">
            <a:avLst/>
          </a:prstGeom>
          <a:solidFill>
            <a:srgbClr val="F4A44A"/>
          </a:solidFill>
          <a:ln cap="flat" cmpd="sng" w="25400">
            <a:solidFill>
              <a:srgbClr val="F4A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 txBox="1"/>
          <p:nvPr/>
        </p:nvSpPr>
        <p:spPr>
          <a:xfrm>
            <a:off x="12362688" y="4962215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3D chassis printed + motors wired</a:t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12106656" y="6181344"/>
            <a:ext cx="2743201" cy="1426465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12106656" y="6181344"/>
            <a:ext cx="91441" cy="1426465"/>
          </a:xfrm>
          <a:prstGeom prst="rect">
            <a:avLst/>
          </a:prstGeom>
          <a:solidFill>
            <a:srgbClr val="F4A44A"/>
          </a:solidFill>
          <a:ln cap="flat" cmpd="sng" w="25400">
            <a:solidFill>
              <a:srgbClr val="F4A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 txBox="1"/>
          <p:nvPr/>
        </p:nvSpPr>
        <p:spPr>
          <a:xfrm>
            <a:off x="12362688" y="6571559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Jetson: ROS2 + all packages</a:t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12106656" y="7790688"/>
            <a:ext cx="2743201" cy="142646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12106656" y="7790688"/>
            <a:ext cx="91441" cy="1426465"/>
          </a:xfrm>
          <a:prstGeom prst="rect">
            <a:avLst/>
          </a:prstGeom>
          <a:solidFill>
            <a:srgbClr val="F4A44A"/>
          </a:solidFill>
          <a:ln cap="flat" cmpd="sng" w="25400">
            <a:solidFill>
              <a:srgbClr val="F4A4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 txBox="1"/>
          <p:nvPr/>
        </p:nvSpPr>
        <p:spPr>
          <a:xfrm>
            <a:off x="12362688" y="8180903"/>
            <a:ext cx="2340865" cy="64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Sensors calibrated — robot moving</a:t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15032736" y="2834639"/>
            <a:ext cx="2743201" cy="950975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15032736" y="2834639"/>
            <a:ext cx="2743201" cy="64009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 txBox="1"/>
          <p:nvPr/>
        </p:nvSpPr>
        <p:spPr>
          <a:xfrm>
            <a:off x="15124176" y="2875632"/>
            <a:ext cx="2560321" cy="83241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Finals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Apr 17–19</a:t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15032736" y="3785615"/>
            <a:ext cx="2743201" cy="585217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 txBox="1"/>
          <p:nvPr/>
        </p:nvSpPr>
        <p:spPr>
          <a:xfrm>
            <a:off x="15124176" y="3865960"/>
            <a:ext cx="2560321" cy="424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Competition MIT BLR</a:t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15032736" y="4572000"/>
            <a:ext cx="2743201" cy="1426464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15032736" y="4572000"/>
            <a:ext cx="91441" cy="1426464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 txBox="1"/>
          <p:nvPr/>
        </p:nvSpPr>
        <p:spPr>
          <a:xfrm>
            <a:off x="15288767" y="4962215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1: Arena mapping rehearsal</a:t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15032736" y="6181344"/>
            <a:ext cx="2743201" cy="1426465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15032736" y="6181344"/>
            <a:ext cx="91441" cy="1426465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 txBox="1"/>
          <p:nvPr/>
        </p:nvSpPr>
        <p:spPr>
          <a:xfrm>
            <a:off x="15288767" y="6571559"/>
            <a:ext cx="2340865" cy="64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2: Full judge demo run</a:t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15032736" y="7790688"/>
            <a:ext cx="2743201" cy="1426465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15032736" y="7790688"/>
            <a:ext cx="91441" cy="1426465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 txBox="1"/>
          <p:nvPr/>
        </p:nvSpPr>
        <p:spPr>
          <a:xfrm>
            <a:off x="15288767" y="8180903"/>
            <a:ext cx="2340865" cy="64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3: Contingency + fallback drills</a:t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402335" y="9400031"/>
            <a:ext cx="17483330" cy="365761"/>
          </a:xfrm>
          <a:prstGeom prst="rect">
            <a:avLst/>
          </a:prstGeom>
          <a:solidFill>
            <a:srgbClr val="001A0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 txBox="1"/>
          <p:nvPr/>
        </p:nvSpPr>
        <p:spPr>
          <a:xfrm>
            <a:off x="640080" y="9386895"/>
            <a:ext cx="17007840" cy="392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C87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Deadline: Round 1 Submission — 25 March 2026  |  Round 2 Simulation — post April 5  |  Finals — April 17–19  |  Zero-infrastructure deployment on physical robot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3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0" y="977036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0" y="9791280"/>
            <a:ext cx="18288000" cy="25909"/>
          </a:xfrm>
          <a:prstGeom prst="rect">
            <a:avLst/>
          </a:prstGeom>
          <a:solidFill>
            <a:srgbClr val="EB6A25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9138960" y="210236"/>
            <a:ext cx="2864168" cy="4254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12770643" y="-23041"/>
            <a:ext cx="1520667" cy="10137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5449680" y="153362"/>
            <a:ext cx="3020379" cy="6609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14962317" y="193681"/>
            <a:ext cx="2862740" cy="5494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365035" y="150476"/>
            <a:ext cx="4416459" cy="5868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907922" y="5927618"/>
            <a:ext cx="3671317" cy="146842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 txBox="1"/>
          <p:nvPr/>
        </p:nvSpPr>
        <p:spPr>
          <a:xfrm>
            <a:off x="1095841" y="5976338"/>
            <a:ext cx="3294719" cy="302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762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87621"/>
                </a:solidFill>
                <a:latin typeface="Calibri"/>
                <a:ea typeface="Calibri"/>
                <a:cs typeface="Calibri"/>
                <a:sym typeface="Calibri"/>
              </a:rPr>
              <a:t>Member 1 — Team Lead</a:t>
            </a:r>
            <a:endParaRPr/>
          </a:p>
        </p:txBody>
      </p:sp>
      <p:sp>
        <p:nvSpPr>
          <p:cNvPr id="526" name="Google Shape;526;p13"/>
          <p:cNvSpPr/>
          <p:nvPr/>
        </p:nvSpPr>
        <p:spPr>
          <a:xfrm>
            <a:off x="1280159" y="6988179"/>
            <a:ext cx="2926082" cy="12955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 txBox="1"/>
          <p:nvPr/>
        </p:nvSpPr>
        <p:spPr>
          <a:xfrm>
            <a:off x="1095841" y="7000171"/>
            <a:ext cx="3294719" cy="265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rPr>
              <a:t>Signature</a:t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5022722" y="5927618"/>
            <a:ext cx="3671317" cy="146842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 txBox="1"/>
          <p:nvPr/>
        </p:nvSpPr>
        <p:spPr>
          <a:xfrm>
            <a:off x="5210642" y="5976338"/>
            <a:ext cx="3294718" cy="302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762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87621"/>
                </a:solidFill>
                <a:latin typeface="Calibri"/>
                <a:ea typeface="Calibri"/>
                <a:cs typeface="Calibri"/>
                <a:sym typeface="Calibri"/>
              </a:rPr>
              <a:t>Member 2</a:t>
            </a:r>
            <a:endParaRPr/>
          </a:p>
        </p:txBody>
      </p:sp>
      <p:sp>
        <p:nvSpPr>
          <p:cNvPr id="530" name="Google Shape;530;p13"/>
          <p:cNvSpPr/>
          <p:nvPr/>
        </p:nvSpPr>
        <p:spPr>
          <a:xfrm>
            <a:off x="5394959" y="6988179"/>
            <a:ext cx="2926081" cy="12955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 txBox="1"/>
          <p:nvPr/>
        </p:nvSpPr>
        <p:spPr>
          <a:xfrm>
            <a:off x="5210642" y="7000171"/>
            <a:ext cx="3294718" cy="265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rPr>
              <a:t>Signature</a:t>
            </a:r>
            <a:endParaRPr/>
          </a:p>
        </p:txBody>
      </p:sp>
      <p:sp>
        <p:nvSpPr>
          <p:cNvPr id="532" name="Google Shape;532;p13"/>
          <p:cNvSpPr/>
          <p:nvPr/>
        </p:nvSpPr>
        <p:spPr>
          <a:xfrm>
            <a:off x="9137522" y="5927618"/>
            <a:ext cx="3671317" cy="146842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 txBox="1"/>
          <p:nvPr/>
        </p:nvSpPr>
        <p:spPr>
          <a:xfrm>
            <a:off x="9325441" y="5976338"/>
            <a:ext cx="3294718" cy="302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762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87621"/>
                </a:solidFill>
                <a:latin typeface="Calibri"/>
                <a:ea typeface="Calibri"/>
                <a:cs typeface="Calibri"/>
                <a:sym typeface="Calibri"/>
              </a:rPr>
              <a:t>Member 3 </a:t>
            </a:r>
            <a:endParaRPr/>
          </a:p>
        </p:txBody>
      </p:sp>
      <p:sp>
        <p:nvSpPr>
          <p:cNvPr id="534" name="Google Shape;534;p13"/>
          <p:cNvSpPr/>
          <p:nvPr/>
        </p:nvSpPr>
        <p:spPr>
          <a:xfrm>
            <a:off x="9509759" y="6988179"/>
            <a:ext cx="2926081" cy="12955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 txBox="1"/>
          <p:nvPr/>
        </p:nvSpPr>
        <p:spPr>
          <a:xfrm>
            <a:off x="9325441" y="7000171"/>
            <a:ext cx="3294718" cy="265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rPr>
              <a:t>Signature</a:t>
            </a:r>
            <a:endParaRPr/>
          </a:p>
        </p:txBody>
      </p:sp>
      <p:sp>
        <p:nvSpPr>
          <p:cNvPr id="536" name="Google Shape;536;p13"/>
          <p:cNvSpPr/>
          <p:nvPr/>
        </p:nvSpPr>
        <p:spPr>
          <a:xfrm>
            <a:off x="13252322" y="5927618"/>
            <a:ext cx="3671317" cy="146842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 txBox="1"/>
          <p:nvPr/>
        </p:nvSpPr>
        <p:spPr>
          <a:xfrm>
            <a:off x="13440241" y="5976338"/>
            <a:ext cx="3294718" cy="302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762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87621"/>
                </a:solidFill>
                <a:latin typeface="Calibri"/>
                <a:ea typeface="Calibri"/>
                <a:cs typeface="Calibri"/>
                <a:sym typeface="Calibri"/>
              </a:rPr>
              <a:t>Member 4 </a:t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13624560" y="6988179"/>
            <a:ext cx="2926081" cy="12955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 txBox="1"/>
          <p:nvPr/>
        </p:nvSpPr>
        <p:spPr>
          <a:xfrm>
            <a:off x="13440241" y="7000171"/>
            <a:ext cx="3294718" cy="265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rPr>
              <a:t>Signature</a:t>
            </a:r>
            <a:endParaRPr/>
          </a:p>
        </p:txBody>
      </p:sp>
      <p:sp>
        <p:nvSpPr>
          <p:cNvPr id="540" name="Google Shape;540;p13"/>
          <p:cNvSpPr txBox="1"/>
          <p:nvPr/>
        </p:nvSpPr>
        <p:spPr>
          <a:xfrm>
            <a:off x="2042479" y="6578228"/>
            <a:ext cx="1637673" cy="26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Nandanaa M S </a:t>
            </a:r>
            <a:endParaRPr/>
          </a:p>
        </p:txBody>
      </p:sp>
      <p:sp>
        <p:nvSpPr>
          <p:cNvPr id="541" name="Google Shape;541;p13"/>
          <p:cNvSpPr txBox="1"/>
          <p:nvPr/>
        </p:nvSpPr>
        <p:spPr>
          <a:xfrm>
            <a:off x="6353964" y="6578228"/>
            <a:ext cx="1211812" cy="26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Lohith M R</a:t>
            </a:r>
            <a:endParaRPr/>
          </a:p>
        </p:txBody>
      </p:sp>
      <p:sp>
        <p:nvSpPr>
          <p:cNvPr id="542" name="Google Shape;542;p13"/>
          <p:cNvSpPr txBox="1"/>
          <p:nvPr/>
        </p:nvSpPr>
        <p:spPr>
          <a:xfrm>
            <a:off x="10233803" y="6578228"/>
            <a:ext cx="1637672" cy="26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Nithin Kumar M</a:t>
            </a:r>
            <a:endParaRPr/>
          </a:p>
        </p:txBody>
      </p:sp>
      <p:sp>
        <p:nvSpPr>
          <p:cNvPr id="543" name="Google Shape;543;p13"/>
          <p:cNvSpPr txBox="1"/>
          <p:nvPr/>
        </p:nvSpPr>
        <p:spPr>
          <a:xfrm>
            <a:off x="14323659" y="6578228"/>
            <a:ext cx="1528644" cy="26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Sudarshan DT</a:t>
            </a:r>
            <a:endParaRPr/>
          </a:p>
        </p:txBody>
      </p:sp>
      <p:sp>
        <p:nvSpPr>
          <p:cNvPr id="544" name="Google Shape;544;p13"/>
          <p:cNvSpPr txBox="1"/>
          <p:nvPr/>
        </p:nvSpPr>
        <p:spPr>
          <a:xfrm>
            <a:off x="640080" y="1240313"/>
            <a:ext cx="17007840" cy="994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Declaration</a:t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914400" y="2779776"/>
            <a:ext cx="16459200" cy="2834641"/>
          </a:xfrm>
          <a:prstGeom prst="rect">
            <a:avLst/>
          </a:prstGeom>
          <a:solidFill>
            <a:srgbClr val="0A0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914400" y="2779776"/>
            <a:ext cx="16459200" cy="16928"/>
          </a:xfrm>
          <a:prstGeom prst="rect">
            <a:avLst/>
          </a:prstGeom>
          <a:solidFill>
            <a:srgbClr val="00B4D8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 txBox="1"/>
          <p:nvPr/>
        </p:nvSpPr>
        <p:spPr>
          <a:xfrm>
            <a:off x="1371599" y="3516237"/>
            <a:ext cx="15544801" cy="1380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confirm that the proposed work is original and independently developed by the team.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All team members agree to the competition rules, evaluation process, and code of conduct.</a:t>
            </a:r>
            <a:endParaRPr b="0" i="0" sz="2600" u="none" cap="none" strike="noStrike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All research references cited are publicly available academic papers from 2023–2025.</a:t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914400" y="7589519"/>
            <a:ext cx="16459200" cy="1243585"/>
          </a:xfrm>
          <a:prstGeom prst="rect">
            <a:avLst/>
          </a:prstGeom>
          <a:solidFill>
            <a:srgbClr val="0A0A1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914400" y="7602472"/>
            <a:ext cx="16459200" cy="16928"/>
          </a:xfrm>
          <a:prstGeom prst="rect">
            <a:avLst/>
          </a:prstGeom>
          <a:solidFill>
            <a:srgbClr val="444444"/>
          </a:solidFill>
          <a:ln cap="flat" cmpd="sng" w="254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 txBox="1"/>
          <p:nvPr/>
        </p:nvSpPr>
        <p:spPr>
          <a:xfrm>
            <a:off x="1371599" y="7702893"/>
            <a:ext cx="15544801" cy="431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Key Research References</a:t>
            </a:r>
            <a:endParaRPr/>
          </a:p>
        </p:txBody>
      </p:sp>
      <p:sp>
        <p:nvSpPr>
          <p:cNvPr id="551" name="Google Shape;551;p13"/>
          <p:cNvSpPr txBox="1"/>
          <p:nvPr/>
        </p:nvSpPr>
        <p:spPr>
          <a:xfrm>
            <a:off x="1371599" y="7999039"/>
            <a:ext cx="15544801" cy="9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1. IET Cyber-Systems &amp; Robotics 2025 — LiDAR-based SLAM Survey (GPS-denied environments)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2. MDPI Sensors 2025 — SLAM for Robotic-Based Infrastructure Inspection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3. ScienceDirect 2025 — AI-based AMR Localisation Review  ·  4. ScienceDirect 2023 — UAV GPS-Denied Navigation Review</a:t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914400" y="9052559"/>
            <a:ext cx="16459200" cy="658369"/>
          </a:xfrm>
          <a:prstGeom prst="rect">
            <a:avLst/>
          </a:prstGeom>
          <a:solidFill>
            <a:srgbClr val="110800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914400" y="9052559"/>
            <a:ext cx="16459200" cy="16929"/>
          </a:xfrm>
          <a:prstGeom prst="rect">
            <a:avLst/>
          </a:prstGeom>
          <a:solidFill>
            <a:srgbClr val="E87722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 txBox="1"/>
          <p:nvPr/>
        </p:nvSpPr>
        <p:spPr>
          <a:xfrm>
            <a:off x="1371599" y="9117190"/>
            <a:ext cx="15544801" cy="529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WarehouseNav AMR  —  MAHE Mobility Challenge 2026  |  Robotics Track  |  ARTPARK, IISc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4"/>
          <p:cNvSpPr txBox="1"/>
          <p:nvPr/>
        </p:nvSpPr>
        <p:spPr>
          <a:xfrm>
            <a:off x="4943588" y="180064"/>
            <a:ext cx="8400824" cy="795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7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Times New Roman"/>
              <a:buNone/>
            </a:pPr>
            <a:r>
              <a:rPr b="0" i="0" lang="en-US" sz="53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Final Output for the Event</a:t>
            </a:r>
            <a:endParaRPr/>
          </a:p>
        </p:txBody>
      </p:sp>
      <p:pic>
        <p:nvPicPr>
          <p:cNvPr id="560" name="Google Shape;560;p14" title="Final OUTPUT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313" y="975903"/>
            <a:ext cx="12745370" cy="90062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